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Merriweather Sans" charset="1" panose="00000500000000000000"/>
      <p:regular r:id="rId15"/>
    </p:embeddedFont>
    <p:embeddedFont>
      <p:font typeface="Monda" charset="1" panose="02000503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846488" y="3824669"/>
            <a:ext cx="14595024" cy="2637662"/>
            <a:chOff x="0" y="0"/>
            <a:chExt cx="19460032" cy="3516883"/>
          </a:xfrm>
        </p:grpSpPr>
        <p:sp>
          <p:nvSpPr>
            <p:cNvPr name="TextBox 8" id="8"/>
            <p:cNvSpPr txBox="true"/>
            <p:nvPr/>
          </p:nvSpPr>
          <p:spPr>
            <a:xfrm rot="0">
              <a:off x="0" y="-238125"/>
              <a:ext cx="19460032" cy="2751239"/>
            </a:xfrm>
            <a:prstGeom prst="rect">
              <a:avLst/>
            </a:prstGeom>
          </p:spPr>
          <p:txBody>
            <a:bodyPr anchor="t" rtlCol="false" tIns="0" lIns="0" bIns="0" rIns="0">
              <a:spAutoFit/>
            </a:bodyPr>
            <a:lstStyle/>
            <a:p>
              <a:pPr algn="ctr">
                <a:lnSpc>
                  <a:spcPts val="17386"/>
                </a:lnSpc>
              </a:pPr>
              <a:r>
                <a:rPr lang="en-US" sz="12418">
                  <a:solidFill>
                    <a:srgbClr val="050E9B"/>
                  </a:solidFill>
                  <a:latin typeface="Merriweather Sans"/>
                  <a:ea typeface="Merriweather Sans"/>
                  <a:cs typeface="Merriweather Sans"/>
                  <a:sym typeface="Merriweather Sans"/>
                </a:rPr>
                <a:t>DevinfraX</a:t>
              </a:r>
            </a:p>
          </p:txBody>
        </p:sp>
        <p:sp>
          <p:nvSpPr>
            <p:cNvPr name="TextBox 9" id="9"/>
            <p:cNvSpPr txBox="true"/>
            <p:nvPr/>
          </p:nvSpPr>
          <p:spPr>
            <a:xfrm rot="0">
              <a:off x="2955325" y="2528402"/>
              <a:ext cx="13549382" cy="988481"/>
            </a:xfrm>
            <a:prstGeom prst="rect">
              <a:avLst/>
            </a:prstGeom>
          </p:spPr>
          <p:txBody>
            <a:bodyPr anchor="t" rtlCol="false" tIns="0" lIns="0" bIns="0" rIns="0">
              <a:spAutoFit/>
            </a:bodyPr>
            <a:lstStyle/>
            <a:p>
              <a:pPr algn="ctr">
                <a:lnSpc>
                  <a:spcPts val="6256"/>
                </a:lnSpc>
                <a:spcBef>
                  <a:spcPct val="0"/>
                </a:spcBef>
              </a:pPr>
              <a:r>
                <a:rPr lang="en-US" sz="4468">
                  <a:solidFill>
                    <a:srgbClr val="050E9B"/>
                  </a:solidFill>
                  <a:latin typeface="Monda"/>
                  <a:ea typeface="Monda"/>
                  <a:cs typeface="Monda"/>
                  <a:sym typeface="Monda"/>
                </a:rPr>
                <a:t>Automated Hybrid Infrastructure</a:t>
              </a:r>
            </a:p>
          </p:txBody>
        </p:sp>
      </p:grpSp>
      <p:sp>
        <p:nvSpPr>
          <p:cNvPr name="TextBox 10" id="10"/>
          <p:cNvSpPr txBox="true"/>
          <p:nvPr/>
        </p:nvSpPr>
        <p:spPr>
          <a:xfrm rot="0">
            <a:off x="4216140" y="9014372"/>
            <a:ext cx="10162036" cy="762792"/>
          </a:xfrm>
          <a:prstGeom prst="rect">
            <a:avLst/>
          </a:prstGeom>
        </p:spPr>
        <p:txBody>
          <a:bodyPr anchor="t" rtlCol="false" tIns="0" lIns="0" bIns="0" rIns="0">
            <a:spAutoFit/>
          </a:bodyPr>
          <a:lstStyle/>
          <a:p>
            <a:pPr algn="ctr">
              <a:lnSpc>
                <a:spcPts val="6256"/>
              </a:lnSpc>
              <a:spcBef>
                <a:spcPct val="0"/>
              </a:spcBef>
            </a:pPr>
            <a:r>
              <a:rPr lang="en-US" sz="4468">
                <a:solidFill>
                  <a:srgbClr val="050E9B"/>
                </a:solidFill>
                <a:latin typeface="Monda"/>
                <a:ea typeface="Monda"/>
                <a:cs typeface="Monda"/>
                <a:sym typeface="Monda"/>
              </a:rPr>
              <a:t>Group No.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529903" y="1838507"/>
            <a:ext cx="11228195" cy="3325359"/>
          </a:xfrm>
          <a:prstGeom prst="rect">
            <a:avLst/>
          </a:prstGeom>
        </p:spPr>
        <p:txBody>
          <a:bodyPr anchor="t" rtlCol="false" tIns="0" lIns="0" bIns="0" rIns="0">
            <a:spAutoFit/>
          </a:bodyPr>
          <a:lstStyle/>
          <a:p>
            <a:pPr algn="ctr">
              <a:lnSpc>
                <a:spcPts val="13375"/>
              </a:lnSpc>
            </a:pPr>
            <a:r>
              <a:rPr lang="en-US" sz="9554">
                <a:solidFill>
                  <a:srgbClr val="050E9B"/>
                </a:solidFill>
                <a:latin typeface="Merriweather Sans"/>
                <a:ea typeface="Merriweather Sans"/>
                <a:cs typeface="Merriweather Sans"/>
                <a:sym typeface="Merriweather Sans"/>
              </a:rPr>
              <a:t>INTRODUCTION</a:t>
            </a:r>
          </a:p>
          <a:p>
            <a:pPr algn="ctr">
              <a:lnSpc>
                <a:spcPts val="13375"/>
              </a:lnSpc>
            </a:pPr>
          </a:p>
        </p:txBody>
      </p:sp>
      <p:sp>
        <p:nvSpPr>
          <p:cNvPr name="TextBox 8" id="8"/>
          <p:cNvSpPr txBox="true"/>
          <p:nvPr/>
        </p:nvSpPr>
        <p:spPr>
          <a:xfrm rot="0">
            <a:off x="3529903" y="4065640"/>
            <a:ext cx="11228195" cy="3348590"/>
          </a:xfrm>
          <a:prstGeom prst="rect">
            <a:avLst/>
          </a:prstGeom>
        </p:spPr>
        <p:txBody>
          <a:bodyPr anchor="t" rtlCol="false" tIns="0" lIns="0" bIns="0" rIns="0">
            <a:spAutoFit/>
          </a:bodyPr>
          <a:lstStyle/>
          <a:p>
            <a:pPr algn="l">
              <a:lnSpc>
                <a:spcPts val="4432"/>
              </a:lnSpc>
            </a:pPr>
            <a:r>
              <a:rPr lang="en-US" sz="3165">
                <a:solidFill>
                  <a:srgbClr val="050E9B"/>
                </a:solidFill>
                <a:latin typeface="Monda"/>
                <a:ea typeface="Monda"/>
                <a:cs typeface="Monda"/>
                <a:sym typeface="Monda"/>
              </a:rPr>
              <a:t>End-to-End CI/CD Automation using DevOps Tools</a:t>
            </a:r>
          </a:p>
          <a:p>
            <a:pPr algn="l">
              <a:lnSpc>
                <a:spcPts val="4432"/>
              </a:lnSpc>
            </a:pPr>
          </a:p>
          <a:p>
            <a:pPr algn="l" marL="683487" indent="-341744" lvl="1">
              <a:lnSpc>
                <a:spcPts val="4432"/>
              </a:lnSpc>
              <a:buFont typeface="Arial"/>
              <a:buChar char="•"/>
            </a:pPr>
            <a:r>
              <a:rPr lang="en-US" sz="3165">
                <a:solidFill>
                  <a:srgbClr val="050E9B"/>
                </a:solidFill>
                <a:latin typeface="Monda"/>
                <a:ea typeface="Monda"/>
                <a:cs typeface="Monda"/>
                <a:sym typeface="Monda"/>
              </a:rPr>
              <a:t>DevOps-based automated deployment project</a:t>
            </a:r>
          </a:p>
          <a:p>
            <a:pPr algn="l" marL="683487" indent="-341744" lvl="1">
              <a:lnSpc>
                <a:spcPts val="4432"/>
              </a:lnSpc>
              <a:buFont typeface="Arial"/>
              <a:buChar char="•"/>
            </a:pPr>
            <a:r>
              <a:rPr lang="en-US" sz="3165">
                <a:solidFill>
                  <a:srgbClr val="050E9B"/>
                </a:solidFill>
                <a:latin typeface="Monda"/>
                <a:ea typeface="Monda"/>
                <a:cs typeface="Monda"/>
                <a:sym typeface="Monda"/>
              </a:rPr>
              <a:t>Focuses on quality, security, performance, and monitoring</a:t>
            </a:r>
          </a:p>
          <a:p>
            <a:pPr algn="l" marL="683487" indent="-341744" lvl="1">
              <a:lnSpc>
                <a:spcPts val="4432"/>
              </a:lnSpc>
              <a:buFont typeface="Arial"/>
              <a:buChar char="•"/>
            </a:pPr>
            <a:r>
              <a:rPr lang="en-US" sz="3165">
                <a:solidFill>
                  <a:srgbClr val="050E9B"/>
                </a:solidFill>
                <a:latin typeface="Monda"/>
                <a:ea typeface="Monda"/>
                <a:cs typeface="Monda"/>
                <a:sym typeface="Monda"/>
              </a:rPr>
              <a:t>Implemented using a hybrid infrastructure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529903" y="1351445"/>
            <a:ext cx="11738721" cy="1633753"/>
          </a:xfrm>
          <a:prstGeom prst="rect">
            <a:avLst/>
          </a:prstGeom>
        </p:spPr>
        <p:txBody>
          <a:bodyPr anchor="t" rtlCol="false" tIns="0" lIns="0" bIns="0" rIns="0">
            <a:spAutoFit/>
          </a:bodyPr>
          <a:lstStyle/>
          <a:p>
            <a:pPr algn="ctr">
              <a:lnSpc>
                <a:spcPts val="13375"/>
              </a:lnSpc>
            </a:pPr>
            <a:r>
              <a:rPr lang="en-US" sz="9554">
                <a:solidFill>
                  <a:srgbClr val="050E9B"/>
                </a:solidFill>
                <a:latin typeface="Merriweather Sans"/>
                <a:ea typeface="Merriweather Sans"/>
                <a:cs typeface="Merriweather Sans"/>
                <a:sym typeface="Merriweather Sans"/>
              </a:rPr>
              <a:t>Problem Statement</a:t>
            </a:r>
          </a:p>
        </p:txBody>
      </p:sp>
      <p:sp>
        <p:nvSpPr>
          <p:cNvPr name="TextBox 8" id="8"/>
          <p:cNvSpPr txBox="true"/>
          <p:nvPr/>
        </p:nvSpPr>
        <p:spPr>
          <a:xfrm rot="0">
            <a:off x="4161476" y="3332841"/>
            <a:ext cx="11408264" cy="3759434"/>
          </a:xfrm>
          <a:prstGeom prst="rect">
            <a:avLst/>
          </a:prstGeom>
        </p:spPr>
        <p:txBody>
          <a:bodyPr anchor="t" rtlCol="false" tIns="0" lIns="0" bIns="0" rIns="0">
            <a:spAutoFit/>
          </a:bodyPr>
          <a:lstStyle/>
          <a:p>
            <a:pPr algn="l">
              <a:lnSpc>
                <a:spcPts val="3312"/>
              </a:lnSpc>
            </a:pPr>
            <a:r>
              <a:rPr lang="en-US" sz="2365">
                <a:solidFill>
                  <a:srgbClr val="050E9B"/>
                </a:solidFill>
                <a:latin typeface="Monda"/>
                <a:ea typeface="Monda"/>
                <a:cs typeface="Monda"/>
                <a:sym typeface="Monda"/>
              </a:rPr>
              <a:t>Manual deployments are often slow and error-prone, increasing the risk of mistakes during releases. The absence of proper testing before moving changes to production further amplifies the chances of failures and unstable applications. Additionally, without continuous monitoring after deployment, issues may go unnoticed, leading to performance degradation, downtime, and a poor user experience.</a:t>
            </a:r>
          </a:p>
          <a:p>
            <a:pPr algn="l">
              <a:lnSpc>
                <a:spcPts val="3312"/>
              </a:lnSpc>
            </a:pPr>
          </a:p>
          <a:p>
            <a:pPr algn="l">
              <a:lnSpc>
                <a:spcPts val="3312"/>
              </a:lnSpc>
            </a:pPr>
          </a:p>
          <a:p>
            <a:pPr algn="l">
              <a:lnSpc>
                <a:spcPts val="331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164309" y="1411708"/>
            <a:ext cx="11228195" cy="1631831"/>
          </a:xfrm>
          <a:prstGeom prst="rect">
            <a:avLst/>
          </a:prstGeom>
        </p:spPr>
        <p:txBody>
          <a:bodyPr anchor="t" rtlCol="false" tIns="0" lIns="0" bIns="0" rIns="0">
            <a:spAutoFit/>
          </a:bodyPr>
          <a:lstStyle/>
          <a:p>
            <a:pPr algn="ctr">
              <a:lnSpc>
                <a:spcPts val="13375"/>
              </a:lnSpc>
            </a:pPr>
            <a:r>
              <a:rPr lang="en-US" sz="9554">
                <a:solidFill>
                  <a:srgbClr val="050E9B"/>
                </a:solidFill>
                <a:latin typeface="Merriweather Sans"/>
                <a:ea typeface="Merriweather Sans"/>
                <a:cs typeface="Merriweather Sans"/>
                <a:sym typeface="Merriweather Sans"/>
              </a:rPr>
              <a:t>OBJECTIVES</a:t>
            </a:r>
          </a:p>
        </p:txBody>
      </p:sp>
      <p:sp>
        <p:nvSpPr>
          <p:cNvPr name="TextBox 8" id="8"/>
          <p:cNvSpPr txBox="true"/>
          <p:nvPr/>
        </p:nvSpPr>
        <p:spPr>
          <a:xfrm rot="0">
            <a:off x="4161476" y="3332841"/>
            <a:ext cx="11408264" cy="1663934"/>
          </a:xfrm>
          <a:prstGeom prst="rect">
            <a:avLst/>
          </a:prstGeom>
        </p:spPr>
        <p:txBody>
          <a:bodyPr anchor="t" rtlCol="false" tIns="0" lIns="0" bIns="0" rIns="0">
            <a:spAutoFit/>
          </a:bodyPr>
          <a:lstStyle/>
          <a:p>
            <a:pPr algn="l" marL="510771" indent="-255386" lvl="1">
              <a:lnSpc>
                <a:spcPts val="3312"/>
              </a:lnSpc>
              <a:buFont typeface="Arial"/>
              <a:buChar char="•"/>
            </a:pPr>
            <a:r>
              <a:rPr lang="en-US" sz="2365">
                <a:solidFill>
                  <a:srgbClr val="050E9B"/>
                </a:solidFill>
                <a:latin typeface="Monda"/>
                <a:ea typeface="Monda"/>
                <a:cs typeface="Monda"/>
                <a:sym typeface="Monda"/>
              </a:rPr>
              <a:t>Automate CI/CD pipeline</a:t>
            </a:r>
          </a:p>
          <a:p>
            <a:pPr algn="l" marL="510771" indent="-255386" lvl="1">
              <a:lnSpc>
                <a:spcPts val="3312"/>
              </a:lnSpc>
              <a:buFont typeface="Arial"/>
              <a:buChar char="•"/>
            </a:pPr>
            <a:r>
              <a:rPr lang="en-US" sz="2365">
                <a:solidFill>
                  <a:srgbClr val="050E9B"/>
                </a:solidFill>
                <a:latin typeface="Monda"/>
                <a:ea typeface="Monda"/>
                <a:cs typeface="Monda"/>
                <a:sym typeface="Monda"/>
              </a:rPr>
              <a:t>Ensure quality, security, and performance</a:t>
            </a:r>
          </a:p>
          <a:p>
            <a:pPr algn="l" marL="510771" indent="-255386" lvl="1">
              <a:lnSpc>
                <a:spcPts val="3312"/>
              </a:lnSpc>
              <a:buFont typeface="Arial"/>
              <a:buChar char="•"/>
            </a:pPr>
            <a:r>
              <a:rPr lang="en-US" sz="2365">
                <a:solidFill>
                  <a:srgbClr val="050E9B"/>
                </a:solidFill>
                <a:latin typeface="Monda"/>
                <a:ea typeface="Monda"/>
                <a:cs typeface="Monda"/>
                <a:sym typeface="Monda"/>
              </a:rPr>
              <a:t>Deploy reliably on hybrid infrastructure</a:t>
            </a:r>
          </a:p>
          <a:p>
            <a:pPr algn="l">
              <a:lnSpc>
                <a:spcPts val="331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114383" y="3578840"/>
            <a:ext cx="5575554" cy="6708160"/>
          </a:xfrm>
          <a:custGeom>
            <a:avLst/>
            <a:gdLst/>
            <a:ahLst/>
            <a:cxnLst/>
            <a:rect r="r" b="b" t="t" l="l"/>
            <a:pathLst>
              <a:path h="6708160" w="5575554">
                <a:moveTo>
                  <a:pt x="0" y="0"/>
                </a:moveTo>
                <a:lnTo>
                  <a:pt x="5575554" y="0"/>
                </a:lnTo>
                <a:lnTo>
                  <a:pt x="5575554" y="6708160"/>
                </a:lnTo>
                <a:lnTo>
                  <a:pt x="0" y="6708160"/>
                </a:lnTo>
                <a:lnTo>
                  <a:pt x="0" y="0"/>
                </a:lnTo>
                <a:close/>
              </a:path>
            </a:pathLst>
          </a:custGeom>
          <a:blipFill>
            <a:blip r:embed="rId7"/>
            <a:stretch>
              <a:fillRect l="0" t="0" r="0" b="-22680"/>
            </a:stretch>
          </a:blipFill>
        </p:spPr>
      </p:sp>
      <p:sp>
        <p:nvSpPr>
          <p:cNvPr name="TextBox 8" id="8"/>
          <p:cNvSpPr txBox="true"/>
          <p:nvPr/>
        </p:nvSpPr>
        <p:spPr>
          <a:xfrm rot="0">
            <a:off x="2228061" y="320759"/>
            <a:ext cx="14367930" cy="3258081"/>
          </a:xfrm>
          <a:prstGeom prst="rect">
            <a:avLst/>
          </a:prstGeom>
        </p:spPr>
        <p:txBody>
          <a:bodyPr anchor="t" rtlCol="false" tIns="0" lIns="0" bIns="0" rIns="0">
            <a:spAutoFit/>
          </a:bodyPr>
          <a:lstStyle/>
          <a:p>
            <a:pPr algn="ctr">
              <a:lnSpc>
                <a:spcPts val="13095"/>
              </a:lnSpc>
            </a:pPr>
            <a:r>
              <a:rPr lang="en-US" sz="9354">
                <a:solidFill>
                  <a:srgbClr val="050E9B"/>
                </a:solidFill>
                <a:latin typeface="Merriweather Sans"/>
                <a:ea typeface="Merriweather Sans"/>
                <a:cs typeface="Merriweather Sans"/>
                <a:sym typeface="Merriweather Sans"/>
              </a:rPr>
              <a:t>Hybrid Infrstructure Architecture</a:t>
            </a:r>
          </a:p>
        </p:txBody>
      </p:sp>
      <p:sp>
        <p:nvSpPr>
          <p:cNvPr name="TextBox 9" id="9"/>
          <p:cNvSpPr txBox="true"/>
          <p:nvPr/>
        </p:nvSpPr>
        <p:spPr>
          <a:xfrm rot="0">
            <a:off x="8689937" y="3765022"/>
            <a:ext cx="11228195" cy="1102879"/>
          </a:xfrm>
          <a:prstGeom prst="rect">
            <a:avLst/>
          </a:prstGeom>
        </p:spPr>
        <p:txBody>
          <a:bodyPr anchor="t" rtlCol="false" tIns="0" lIns="0" bIns="0" rIns="0">
            <a:spAutoFit/>
          </a:bodyPr>
          <a:lstStyle/>
          <a:p>
            <a:pPr algn="l">
              <a:lnSpc>
                <a:spcPts val="9036"/>
              </a:lnSpc>
            </a:pPr>
            <a:r>
              <a:rPr lang="en-US" sz="6454">
                <a:solidFill>
                  <a:srgbClr val="050E9B"/>
                </a:solidFill>
                <a:latin typeface="Merriweather Sans"/>
                <a:ea typeface="Merriweather Sans"/>
                <a:cs typeface="Merriweather Sans"/>
                <a:sym typeface="Merriweather Sans"/>
              </a:rPr>
              <a:t>Control </a:t>
            </a:r>
          </a:p>
        </p:txBody>
      </p:sp>
      <p:sp>
        <p:nvSpPr>
          <p:cNvPr name="TextBox 10" id="10"/>
          <p:cNvSpPr txBox="true"/>
          <p:nvPr/>
        </p:nvSpPr>
        <p:spPr>
          <a:xfrm rot="0">
            <a:off x="8689937" y="5425467"/>
            <a:ext cx="11228195" cy="1102879"/>
          </a:xfrm>
          <a:prstGeom prst="rect">
            <a:avLst/>
          </a:prstGeom>
        </p:spPr>
        <p:txBody>
          <a:bodyPr anchor="t" rtlCol="false" tIns="0" lIns="0" bIns="0" rIns="0">
            <a:spAutoFit/>
          </a:bodyPr>
          <a:lstStyle/>
          <a:p>
            <a:pPr algn="l">
              <a:lnSpc>
                <a:spcPts val="9036"/>
              </a:lnSpc>
            </a:pPr>
            <a:r>
              <a:rPr lang="en-US" sz="6454">
                <a:solidFill>
                  <a:srgbClr val="050E9B"/>
                </a:solidFill>
                <a:latin typeface="Merriweather Sans"/>
                <a:ea typeface="Merriweather Sans"/>
                <a:cs typeface="Merriweather Sans"/>
                <a:sym typeface="Merriweather Sans"/>
              </a:rPr>
              <a:t>Stage</a:t>
            </a:r>
          </a:p>
        </p:txBody>
      </p:sp>
      <p:sp>
        <p:nvSpPr>
          <p:cNvPr name="TextBox 11" id="11"/>
          <p:cNvSpPr txBox="true"/>
          <p:nvPr/>
        </p:nvSpPr>
        <p:spPr>
          <a:xfrm rot="0">
            <a:off x="8689937" y="7113421"/>
            <a:ext cx="11228195" cy="1102879"/>
          </a:xfrm>
          <a:prstGeom prst="rect">
            <a:avLst/>
          </a:prstGeom>
        </p:spPr>
        <p:txBody>
          <a:bodyPr anchor="t" rtlCol="false" tIns="0" lIns="0" bIns="0" rIns="0">
            <a:spAutoFit/>
          </a:bodyPr>
          <a:lstStyle/>
          <a:p>
            <a:pPr algn="l">
              <a:lnSpc>
                <a:spcPts val="9036"/>
              </a:lnSpc>
            </a:pPr>
            <a:r>
              <a:rPr lang="en-US" sz="6454">
                <a:solidFill>
                  <a:srgbClr val="050E9B"/>
                </a:solidFill>
                <a:latin typeface="Merriweather Sans"/>
                <a:ea typeface="Merriweather Sans"/>
                <a:cs typeface="Merriweather Sans"/>
                <a:sym typeface="Merriweather Sans"/>
              </a:rPr>
              <a:t>Pre-Prod</a:t>
            </a:r>
          </a:p>
        </p:txBody>
      </p:sp>
      <p:sp>
        <p:nvSpPr>
          <p:cNvPr name="TextBox 12" id="12"/>
          <p:cNvSpPr txBox="true"/>
          <p:nvPr/>
        </p:nvSpPr>
        <p:spPr>
          <a:xfrm rot="0">
            <a:off x="8689937" y="8797326"/>
            <a:ext cx="11228195" cy="1102879"/>
          </a:xfrm>
          <a:prstGeom prst="rect">
            <a:avLst/>
          </a:prstGeom>
        </p:spPr>
        <p:txBody>
          <a:bodyPr anchor="t" rtlCol="false" tIns="0" lIns="0" bIns="0" rIns="0">
            <a:spAutoFit/>
          </a:bodyPr>
          <a:lstStyle/>
          <a:p>
            <a:pPr algn="l">
              <a:lnSpc>
                <a:spcPts val="9036"/>
              </a:lnSpc>
            </a:pPr>
            <a:r>
              <a:rPr lang="en-US" sz="6454">
                <a:solidFill>
                  <a:srgbClr val="050E9B"/>
                </a:solidFill>
                <a:latin typeface="Merriweather Sans"/>
                <a:ea typeface="Merriweather Sans"/>
                <a:cs typeface="Merriweather Sans"/>
                <a:sym typeface="Merriweather Sans"/>
              </a:rPr>
              <a:t>Production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529903" y="1527310"/>
            <a:ext cx="11228195" cy="1633753"/>
          </a:xfrm>
          <a:prstGeom prst="rect">
            <a:avLst/>
          </a:prstGeom>
        </p:spPr>
        <p:txBody>
          <a:bodyPr anchor="t" rtlCol="false" tIns="0" lIns="0" bIns="0" rIns="0">
            <a:spAutoFit/>
          </a:bodyPr>
          <a:lstStyle/>
          <a:p>
            <a:pPr algn="ctr">
              <a:lnSpc>
                <a:spcPts val="13375"/>
              </a:lnSpc>
            </a:pPr>
            <a:r>
              <a:rPr lang="en-US" sz="9554">
                <a:solidFill>
                  <a:srgbClr val="050E9B"/>
                </a:solidFill>
                <a:latin typeface="Merriweather Sans"/>
                <a:ea typeface="Merriweather Sans"/>
                <a:cs typeface="Merriweather Sans"/>
                <a:sym typeface="Merriweather Sans"/>
              </a:rPr>
              <a:t>CI/CD Workflow</a:t>
            </a:r>
          </a:p>
        </p:txBody>
      </p:sp>
      <p:sp>
        <p:nvSpPr>
          <p:cNvPr name="TextBox 8" id="8"/>
          <p:cNvSpPr txBox="true"/>
          <p:nvPr/>
        </p:nvSpPr>
        <p:spPr>
          <a:xfrm rot="0">
            <a:off x="4110424" y="3702362"/>
            <a:ext cx="11408264" cy="3340334"/>
          </a:xfrm>
          <a:prstGeom prst="rect">
            <a:avLst/>
          </a:prstGeom>
        </p:spPr>
        <p:txBody>
          <a:bodyPr anchor="t" rtlCol="false" tIns="0" lIns="0" bIns="0" rIns="0">
            <a:spAutoFit/>
          </a:bodyPr>
          <a:lstStyle/>
          <a:p>
            <a:pPr algn="l" marL="510771" indent="-255386" lvl="1">
              <a:lnSpc>
                <a:spcPts val="3312"/>
              </a:lnSpc>
              <a:buFont typeface="Arial"/>
              <a:buChar char="•"/>
            </a:pPr>
            <a:r>
              <a:rPr lang="en-US" sz="2365">
                <a:solidFill>
                  <a:srgbClr val="050E9B"/>
                </a:solidFill>
                <a:latin typeface="Monda"/>
                <a:ea typeface="Monda"/>
                <a:cs typeface="Monda"/>
                <a:sym typeface="Monda"/>
              </a:rPr>
              <a:t>Developer pushes code to GitHub</a:t>
            </a:r>
          </a:p>
          <a:p>
            <a:pPr algn="l" marL="510771" indent="-255386" lvl="1">
              <a:lnSpc>
                <a:spcPts val="3312"/>
              </a:lnSpc>
              <a:buFont typeface="Arial"/>
              <a:buChar char="•"/>
            </a:pPr>
            <a:r>
              <a:rPr lang="en-US" sz="2365">
                <a:solidFill>
                  <a:srgbClr val="050E9B"/>
                </a:solidFill>
                <a:latin typeface="Monda"/>
                <a:ea typeface="Monda"/>
                <a:cs typeface="Monda"/>
                <a:sym typeface="Monda"/>
              </a:rPr>
              <a:t>Jenkins builds application &amp; Docker image</a:t>
            </a:r>
          </a:p>
          <a:p>
            <a:pPr algn="l" marL="510771" indent="-255386" lvl="1">
              <a:lnSpc>
                <a:spcPts val="3312"/>
              </a:lnSpc>
              <a:buFont typeface="Arial"/>
              <a:buChar char="•"/>
            </a:pPr>
            <a:r>
              <a:rPr lang="en-US" sz="2365">
                <a:solidFill>
                  <a:srgbClr val="050E9B"/>
                </a:solidFill>
                <a:latin typeface="Monda"/>
                <a:ea typeface="Monda"/>
                <a:cs typeface="Monda"/>
                <a:sym typeface="Monda"/>
              </a:rPr>
              <a:t>Image p</a:t>
            </a:r>
            <a:r>
              <a:rPr lang="en-US" sz="2365">
                <a:solidFill>
                  <a:srgbClr val="050E9B"/>
                </a:solidFill>
                <a:latin typeface="Monda"/>
                <a:ea typeface="Monda"/>
                <a:cs typeface="Monda"/>
                <a:sym typeface="Monda"/>
              </a:rPr>
              <a:t>ushed to Docker Hub</a:t>
            </a:r>
          </a:p>
          <a:p>
            <a:pPr algn="l" marL="510771" indent="-255386" lvl="1">
              <a:lnSpc>
                <a:spcPts val="3312"/>
              </a:lnSpc>
              <a:buFont typeface="Arial"/>
              <a:buChar char="•"/>
            </a:pPr>
            <a:r>
              <a:rPr lang="en-US" sz="2365">
                <a:solidFill>
                  <a:srgbClr val="050E9B"/>
                </a:solidFill>
                <a:latin typeface="Monda"/>
                <a:ea typeface="Monda"/>
                <a:cs typeface="Monda"/>
                <a:sym typeface="Monda"/>
              </a:rPr>
              <a:t>Stage testing (quality &amp; security)</a:t>
            </a:r>
          </a:p>
          <a:p>
            <a:pPr algn="l" marL="510771" indent="-255386" lvl="1">
              <a:lnSpc>
                <a:spcPts val="3312"/>
              </a:lnSpc>
              <a:buFont typeface="Arial"/>
              <a:buChar char="•"/>
            </a:pPr>
            <a:r>
              <a:rPr lang="en-US" sz="2365">
                <a:solidFill>
                  <a:srgbClr val="050E9B"/>
                </a:solidFill>
                <a:latin typeface="Monda"/>
                <a:ea typeface="Monda"/>
                <a:cs typeface="Monda"/>
                <a:sym typeface="Monda"/>
              </a:rPr>
              <a:t>Pre-Prod testing (performance)</a:t>
            </a:r>
          </a:p>
          <a:p>
            <a:pPr algn="l" marL="510771" indent="-255386" lvl="1">
              <a:lnSpc>
                <a:spcPts val="3312"/>
              </a:lnSpc>
              <a:buFont typeface="Arial"/>
              <a:buChar char="•"/>
            </a:pPr>
            <a:r>
              <a:rPr lang="en-US" sz="2365">
                <a:solidFill>
                  <a:srgbClr val="050E9B"/>
                </a:solidFill>
                <a:latin typeface="Monda"/>
                <a:ea typeface="Monda"/>
                <a:cs typeface="Monda"/>
                <a:sym typeface="Monda"/>
              </a:rPr>
              <a:t>Production d</a:t>
            </a:r>
            <a:r>
              <a:rPr lang="en-US" sz="2365">
                <a:solidFill>
                  <a:srgbClr val="050E9B"/>
                </a:solidFill>
                <a:latin typeface="Monda"/>
                <a:ea typeface="Monda"/>
                <a:cs typeface="Monda"/>
                <a:sym typeface="Monda"/>
              </a:rPr>
              <a:t>eployment</a:t>
            </a:r>
          </a:p>
          <a:p>
            <a:pPr algn="l" marL="510771" indent="-255386" lvl="1">
              <a:lnSpc>
                <a:spcPts val="3312"/>
              </a:lnSpc>
              <a:buFont typeface="Arial"/>
              <a:buChar char="•"/>
            </a:pPr>
            <a:r>
              <a:rPr lang="en-US" sz="2365">
                <a:solidFill>
                  <a:srgbClr val="050E9B"/>
                </a:solidFill>
                <a:latin typeface="Monda"/>
                <a:ea typeface="Monda"/>
                <a:cs typeface="Monda"/>
                <a:sym typeface="Monda"/>
              </a:rPr>
              <a:t>Continuous monitoring</a:t>
            </a:r>
          </a:p>
          <a:p>
            <a:pPr algn="l">
              <a:lnSpc>
                <a:spcPts val="331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529903" y="1838507"/>
            <a:ext cx="11228195" cy="1631831"/>
          </a:xfrm>
          <a:prstGeom prst="rect">
            <a:avLst/>
          </a:prstGeom>
        </p:spPr>
        <p:txBody>
          <a:bodyPr anchor="t" rtlCol="false" tIns="0" lIns="0" bIns="0" rIns="0">
            <a:spAutoFit/>
          </a:bodyPr>
          <a:lstStyle/>
          <a:p>
            <a:pPr algn="ctr">
              <a:lnSpc>
                <a:spcPts val="13375"/>
              </a:lnSpc>
            </a:pPr>
            <a:r>
              <a:rPr lang="en-US" sz="9554">
                <a:solidFill>
                  <a:srgbClr val="050E9B"/>
                </a:solidFill>
                <a:latin typeface="Merriweather Sans"/>
                <a:ea typeface="Merriweather Sans"/>
                <a:cs typeface="Merriweather Sans"/>
                <a:sym typeface="Merriweather Sans"/>
              </a:rPr>
              <a:t>CONCLUSION</a:t>
            </a:r>
          </a:p>
        </p:txBody>
      </p:sp>
      <p:sp>
        <p:nvSpPr>
          <p:cNvPr name="TextBox 8" id="8"/>
          <p:cNvSpPr txBox="true"/>
          <p:nvPr/>
        </p:nvSpPr>
        <p:spPr>
          <a:xfrm rot="0">
            <a:off x="2719553" y="3819902"/>
            <a:ext cx="12848894" cy="1663934"/>
          </a:xfrm>
          <a:prstGeom prst="rect">
            <a:avLst/>
          </a:prstGeom>
        </p:spPr>
        <p:txBody>
          <a:bodyPr anchor="t" rtlCol="false" tIns="0" lIns="0" bIns="0" rIns="0">
            <a:spAutoFit/>
          </a:bodyPr>
          <a:lstStyle/>
          <a:p>
            <a:pPr algn="l">
              <a:lnSpc>
                <a:spcPts val="3312"/>
              </a:lnSpc>
              <a:spcBef>
                <a:spcPct val="0"/>
              </a:spcBef>
            </a:pPr>
            <a:r>
              <a:rPr lang="en-US" sz="2365">
                <a:solidFill>
                  <a:srgbClr val="050E9B"/>
                </a:solidFill>
                <a:latin typeface="Monda"/>
                <a:ea typeface="Monda"/>
                <a:cs typeface="Monda"/>
                <a:sym typeface="Monda"/>
              </a:rPr>
              <a:t>DevinfraX demonstrates real-world DevOps practices by integrating industry-standard tools and workflows, ensuring reliable and scalable deployments. It also covers the full application lifecycle, from development and testing to deployment and ongoing operations, making it a comprehensive and practical DevOps solution.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529903" y="1230180"/>
            <a:ext cx="11228195" cy="1633753"/>
          </a:xfrm>
          <a:prstGeom prst="rect">
            <a:avLst/>
          </a:prstGeom>
        </p:spPr>
        <p:txBody>
          <a:bodyPr anchor="t" rtlCol="false" tIns="0" lIns="0" bIns="0" rIns="0">
            <a:spAutoFit/>
          </a:bodyPr>
          <a:lstStyle/>
          <a:p>
            <a:pPr algn="ctr">
              <a:lnSpc>
                <a:spcPts val="13375"/>
              </a:lnSpc>
            </a:pPr>
            <a:r>
              <a:rPr lang="en-US" sz="9554">
                <a:solidFill>
                  <a:srgbClr val="050E9B"/>
                </a:solidFill>
                <a:latin typeface="Merriweather Sans"/>
                <a:ea typeface="Merriweather Sans"/>
                <a:cs typeface="Merriweather Sans"/>
                <a:sym typeface="Merriweather Sans"/>
              </a:rPr>
              <a:t>FUTURE SCOPE</a:t>
            </a:r>
          </a:p>
        </p:txBody>
      </p:sp>
      <p:sp>
        <p:nvSpPr>
          <p:cNvPr name="TextBox 8" id="8"/>
          <p:cNvSpPr txBox="true"/>
          <p:nvPr/>
        </p:nvSpPr>
        <p:spPr>
          <a:xfrm rot="0">
            <a:off x="3642026" y="3717093"/>
            <a:ext cx="12848894" cy="406634"/>
          </a:xfrm>
          <a:prstGeom prst="rect">
            <a:avLst/>
          </a:prstGeom>
        </p:spPr>
        <p:txBody>
          <a:bodyPr anchor="t" rtlCol="false" tIns="0" lIns="0" bIns="0" rIns="0">
            <a:spAutoFit/>
          </a:bodyPr>
          <a:lstStyle/>
          <a:p>
            <a:pPr algn="l" marL="510771" indent="-255386" lvl="1">
              <a:lnSpc>
                <a:spcPts val="3312"/>
              </a:lnSpc>
              <a:buFont typeface="Arial"/>
              <a:buChar char="•"/>
            </a:pPr>
            <a:r>
              <a:rPr lang="en-US" sz="2365">
                <a:solidFill>
                  <a:srgbClr val="050E9B"/>
                </a:solidFill>
                <a:latin typeface="Monda"/>
                <a:ea typeface="Monda"/>
                <a:cs typeface="Monda"/>
                <a:sym typeface="Monda"/>
              </a:rPr>
              <a:t>Kubernetes integration</a:t>
            </a:r>
          </a:p>
        </p:txBody>
      </p:sp>
      <p:sp>
        <p:nvSpPr>
          <p:cNvPr name="TextBox 9" id="9"/>
          <p:cNvSpPr txBox="true"/>
          <p:nvPr/>
        </p:nvSpPr>
        <p:spPr>
          <a:xfrm rot="0">
            <a:off x="3642026" y="4076103"/>
            <a:ext cx="12848894" cy="406634"/>
          </a:xfrm>
          <a:prstGeom prst="rect">
            <a:avLst/>
          </a:prstGeom>
        </p:spPr>
        <p:txBody>
          <a:bodyPr anchor="t" rtlCol="false" tIns="0" lIns="0" bIns="0" rIns="0">
            <a:spAutoFit/>
          </a:bodyPr>
          <a:lstStyle/>
          <a:p>
            <a:pPr algn="l" marL="510771" indent="-255386" lvl="1">
              <a:lnSpc>
                <a:spcPts val="3312"/>
              </a:lnSpc>
              <a:buFont typeface="Arial"/>
              <a:buChar char="•"/>
            </a:pPr>
            <a:r>
              <a:rPr lang="en-US" sz="2365">
                <a:solidFill>
                  <a:srgbClr val="050E9B"/>
                </a:solidFill>
                <a:latin typeface="Monda"/>
                <a:ea typeface="Monda"/>
                <a:cs typeface="Monda"/>
                <a:sym typeface="Monda"/>
              </a:rPr>
              <a:t>Auto-scaling and logging</a:t>
            </a:r>
          </a:p>
        </p:txBody>
      </p:sp>
      <p:sp>
        <p:nvSpPr>
          <p:cNvPr name="TextBox 10" id="10"/>
          <p:cNvSpPr txBox="true"/>
          <p:nvPr/>
        </p:nvSpPr>
        <p:spPr>
          <a:xfrm rot="0">
            <a:off x="3642026" y="4435112"/>
            <a:ext cx="12848894" cy="406634"/>
          </a:xfrm>
          <a:prstGeom prst="rect">
            <a:avLst/>
          </a:prstGeom>
        </p:spPr>
        <p:txBody>
          <a:bodyPr anchor="t" rtlCol="false" tIns="0" lIns="0" bIns="0" rIns="0">
            <a:spAutoFit/>
          </a:bodyPr>
          <a:lstStyle/>
          <a:p>
            <a:pPr algn="l" marL="510771" indent="-255386" lvl="1">
              <a:lnSpc>
                <a:spcPts val="3312"/>
              </a:lnSpc>
              <a:buFont typeface="Arial"/>
              <a:buChar char="•"/>
            </a:pPr>
            <a:r>
              <a:rPr lang="en-US" sz="2365">
                <a:solidFill>
                  <a:srgbClr val="050E9B"/>
                </a:solidFill>
                <a:latin typeface="Monda"/>
                <a:ea typeface="Monda"/>
                <a:cs typeface="Monda"/>
                <a:sym typeface="Monda"/>
              </a:rPr>
              <a:t>Advanced alerting mechanisms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846488" y="3962424"/>
            <a:ext cx="14595024" cy="2124027"/>
          </a:xfrm>
          <a:prstGeom prst="rect">
            <a:avLst/>
          </a:prstGeom>
        </p:spPr>
        <p:txBody>
          <a:bodyPr anchor="t" rtlCol="false" tIns="0" lIns="0" bIns="0" rIns="0">
            <a:spAutoFit/>
          </a:bodyPr>
          <a:lstStyle/>
          <a:p>
            <a:pPr algn="ctr">
              <a:lnSpc>
                <a:spcPts val="17386"/>
              </a:lnSpc>
            </a:pPr>
            <a:r>
              <a:rPr lang="en-US" sz="12418">
                <a:solidFill>
                  <a:srgbClr val="050E9B"/>
                </a:solidFill>
                <a:latin typeface="Merriweather Sans"/>
                <a:ea typeface="Merriweather Sans"/>
                <a:cs typeface="Merriweather Sans"/>
                <a:sym typeface="Merriweather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DAHAONPglxs</dc:identifier>
  <dcterms:modified xsi:type="dcterms:W3CDTF">2011-08-01T06:04:30Z</dcterms:modified>
  <cp:revision>1</cp:revision>
  <dc:title>PRESENTATION</dc:title>
</cp:coreProperties>
</file>